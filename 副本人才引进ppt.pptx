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258" r:id="rId4"/>
    <p:sldId id="338" r:id="rId6"/>
    <p:sldId id="312" r:id="rId7"/>
    <p:sldId id="313" r:id="rId8"/>
    <p:sldId id="314" r:id="rId9"/>
    <p:sldId id="315" r:id="rId10"/>
    <p:sldId id="339" r:id="rId11"/>
    <p:sldId id="31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4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思洋 刘" initials="思刘" lastIdx="0" clrIdx="0"/>
  <p:cmAuthor id="2" name="王星" initials="王" lastIdx="0" clrIdx="1"/>
  <p:cmAuthor id="3" name="Administrator" initials="A" lastIdx="0" clrIdx="2"/>
  <p:cmAuthor id="4" name="作者" initials="A" lastIdx="0" clrIdx="3"/>
  <p:cmAuthor id="5" name="Zhou" initials="8" lastIdx="0" clrIdx="4"/>
  <p:cmAuthor id="6" name="xing" initials="x" lastIdx="0" clrIdx="5"/>
  <p:cmAuthor id="7" name="陈嘚嘚" initials="陈" lastIdx="0" clrIdx="6"/>
  <p:cmAuthor id="8" name="春生 秦" initials="春" lastIdx="0" clrIdx="7"/>
  <p:cmAuthor id="9" name="zl" initials="zl" lastIdx="0" clrIdx="8"/>
  <p:cmAuthor id="10" name="希沃大屏" initials="希沃大屏" lastIdx="0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44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1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08685">
              <a:defRPr/>
            </a:pPr>
            <a:fld id="{55BD6B9A-9AE6-4C9E-A013-8F8BD716454F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CB4A-1B0D-4E87-AFF4-A41A579F42A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CC34-E2BF-4DF9-9885-E6608EECF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8F0B2-BB1A-44D9-BE6E-1AA75D92C9F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CC34-E2BF-4DF9-9885-E6608EECF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69A2A-59B2-4141-91B5-4503CE706CB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CC34-E2BF-4DF9-9885-E6608EECF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DE8C7-8395-4E96-99AF-030C45550F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E80F5-778F-4273-8C8B-C6329F9F6A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1D0FF-B0F1-47B5-8809-4C3E4A08EB5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CC34-E2BF-4DF9-9885-E6608EECF7A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8DC0A-DCCD-4642-89B4-4863B575553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CC34-E2BF-4DF9-9885-E6608EECF7A2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AC593-B125-4EE9-BC0D-1CCB0EBEE72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CC34-E2BF-4DF9-9885-E6608EECF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C5ADC-3AB7-41C5-934C-F200413D65C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6CC34-E2BF-4DF9-9885-E6608EECF7A2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任意多边形 3"/>
          <p:cNvSpPr/>
          <p:nvPr/>
        </p:nvSpPr>
        <p:spPr>
          <a:xfrm>
            <a:off x="-153339" y="0"/>
            <a:ext cx="2837789" cy="6858000"/>
          </a:xfrm>
          <a:custGeom>
            <a:avLst/>
            <a:gdLst>
              <a:gd name="connsiteX0" fmla="*/ 0 w 2837789"/>
              <a:gd name="connsiteY0" fmla="*/ 0 h 6858000"/>
              <a:gd name="connsiteX1" fmla="*/ 537934 w 2837789"/>
              <a:gd name="connsiteY1" fmla="*/ 0 h 6858000"/>
              <a:gd name="connsiteX2" fmla="*/ 704850 w 2837789"/>
              <a:gd name="connsiteY2" fmla="*/ 0 h 6858000"/>
              <a:gd name="connsiteX3" fmla="*/ 2837789 w 2837789"/>
              <a:gd name="connsiteY3" fmla="*/ 0 h 6858000"/>
              <a:gd name="connsiteX4" fmla="*/ 2837789 w 2837789"/>
              <a:gd name="connsiteY4" fmla="*/ 395378 h 6858000"/>
              <a:gd name="connsiteX5" fmla="*/ 2618085 w 2837789"/>
              <a:gd name="connsiteY5" fmla="*/ 417526 h 6858000"/>
              <a:gd name="connsiteX6" fmla="*/ 1747634 w 2837789"/>
              <a:gd name="connsiteY6" fmla="*/ 1485534 h 6858000"/>
              <a:gd name="connsiteX7" fmla="*/ 2618085 w 2837789"/>
              <a:gd name="connsiteY7" fmla="*/ 2553542 h 6858000"/>
              <a:gd name="connsiteX8" fmla="*/ 2837789 w 2837789"/>
              <a:gd name="connsiteY8" fmla="*/ 2575690 h 6858000"/>
              <a:gd name="connsiteX9" fmla="*/ 2837789 w 2837789"/>
              <a:gd name="connsiteY9" fmla="*/ 6858000 h 6858000"/>
              <a:gd name="connsiteX10" fmla="*/ 704850 w 2837789"/>
              <a:gd name="connsiteY10" fmla="*/ 6858000 h 6858000"/>
              <a:gd name="connsiteX11" fmla="*/ 537934 w 2837789"/>
              <a:gd name="connsiteY11" fmla="*/ 6858000 h 6858000"/>
              <a:gd name="connsiteX12" fmla="*/ 0 w 2837789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37789" h="6858000">
                <a:moveTo>
                  <a:pt x="0" y="0"/>
                </a:moveTo>
                <a:lnTo>
                  <a:pt x="537934" y="0"/>
                </a:lnTo>
                <a:lnTo>
                  <a:pt x="704850" y="0"/>
                </a:lnTo>
                <a:lnTo>
                  <a:pt x="2837789" y="0"/>
                </a:lnTo>
                <a:lnTo>
                  <a:pt x="2837789" y="395378"/>
                </a:lnTo>
                <a:lnTo>
                  <a:pt x="2618085" y="417526"/>
                </a:lnTo>
                <a:cubicBezTo>
                  <a:pt x="2121320" y="519179"/>
                  <a:pt x="1747634" y="958717"/>
                  <a:pt x="1747634" y="1485534"/>
                </a:cubicBezTo>
                <a:cubicBezTo>
                  <a:pt x="1747634" y="2012352"/>
                  <a:pt x="2121320" y="2451889"/>
                  <a:pt x="2618085" y="2553542"/>
                </a:cubicBezTo>
                <a:lnTo>
                  <a:pt x="2837789" y="2575690"/>
                </a:lnTo>
                <a:lnTo>
                  <a:pt x="2837789" y="6858000"/>
                </a:lnTo>
                <a:lnTo>
                  <a:pt x="704850" y="6858000"/>
                </a:lnTo>
                <a:lnTo>
                  <a:pt x="53793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A3F6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grpSp>
        <p:nvGrpSpPr>
          <p:cNvPr id="61" name="组合 4"/>
          <p:cNvGrpSpPr/>
          <p:nvPr/>
        </p:nvGrpSpPr>
        <p:grpSpPr>
          <a:xfrm>
            <a:off x="1526670" y="293248"/>
            <a:ext cx="2384573" cy="2384573"/>
            <a:chOff x="4240335" y="3008435"/>
            <a:chExt cx="3711332" cy="3711332"/>
          </a:xfrm>
        </p:grpSpPr>
        <p:sp>
          <p:nvSpPr>
            <p:cNvPr id="1048600" name="椭圆 5"/>
            <p:cNvSpPr/>
            <p:nvPr/>
          </p:nvSpPr>
          <p:spPr>
            <a:xfrm>
              <a:off x="4240335" y="3008435"/>
              <a:ext cx="3711332" cy="3711332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 w="9525"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endParaRPr>
            </a:p>
          </p:txBody>
        </p:sp>
        <p:grpSp>
          <p:nvGrpSpPr>
            <p:cNvPr id="62" name="组合 6"/>
            <p:cNvGrpSpPr/>
            <p:nvPr/>
          </p:nvGrpSpPr>
          <p:grpSpPr>
            <a:xfrm>
              <a:off x="4710169" y="3478269"/>
              <a:ext cx="2771663" cy="2771663"/>
              <a:chOff x="2193191" y="1899415"/>
              <a:chExt cx="2421376" cy="2421376"/>
            </a:xfrm>
            <a:effectLst/>
          </p:grpSpPr>
          <p:sp>
            <p:nvSpPr>
              <p:cNvPr id="1048601" name="椭圆 7"/>
              <p:cNvSpPr/>
              <p:nvPr/>
            </p:nvSpPr>
            <p:spPr>
              <a:xfrm>
                <a:off x="2193191" y="1899415"/>
                <a:ext cx="2421376" cy="2421376"/>
              </a:xfrm>
              <a:prstGeom prst="ellipse">
                <a:avLst/>
              </a:prstGeom>
              <a:solidFill>
                <a:srgbClr val="1A3F6C"/>
              </a:solidFill>
              <a:ln w="31750"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</a:ln>
              <a:effectLst>
                <a:innerShdw blurRad="127000" dist="63500" dir="13500000">
                  <a:schemeClr val="accent3">
                    <a:lumMod val="50000"/>
                    <a:alpha val="85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1048602" name="椭圆 8"/>
              <p:cNvSpPr/>
              <p:nvPr/>
            </p:nvSpPr>
            <p:spPr>
              <a:xfrm>
                <a:off x="2345502" y="2051726"/>
                <a:ext cx="2116756" cy="21167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50800">
                <a:noFill/>
              </a:ln>
              <a:effectLst>
                <a:outerShdw blurRad="152400" dist="76200" dir="2700000" algn="tl" rotWithShape="0">
                  <a:schemeClr val="accent3">
                    <a:lumMod val="50000"/>
                    <a:alpha val="64000"/>
                  </a:schemeClr>
                </a:outerShdw>
              </a:effectLst>
              <a:scene3d>
                <a:camera prst="orthographicFront"/>
                <a:lightRig rig="threePt" dir="t"/>
              </a:scene3d>
              <a:sp3d prstMaterial="softEdge">
                <a:bevelT w="82550" h="25400"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宋体" pitchFamily="2" charset="-122"/>
                  <a:cs typeface="+mn-cs"/>
                </a:endParaRPr>
              </a:p>
            </p:txBody>
          </p:sp>
        </p:grpSp>
      </p:grpSp>
      <p:sp>
        <p:nvSpPr>
          <p:cNvPr id="1048603" name="文本框 14"/>
          <p:cNvSpPr txBox="1"/>
          <p:nvPr/>
        </p:nvSpPr>
        <p:spPr>
          <a:xfrm>
            <a:off x="1824012" y="1107598"/>
            <a:ext cx="1692445" cy="76454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议题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48604" name="文本框 22"/>
          <p:cNvSpPr txBox="1"/>
          <p:nvPr/>
        </p:nvSpPr>
        <p:spPr>
          <a:xfrm>
            <a:off x="3694430" y="1633220"/>
            <a:ext cx="8497570" cy="46075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indent="0" fontAlgn="auto">
              <a:lnSpc>
                <a:spcPct val="150000"/>
              </a:lnSpc>
              <a:buFontTx/>
              <a:buNone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人才引进（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人）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Tx/>
              <a:buNone/>
            </a:pP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442335" y="2503170"/>
            <a:ext cx="5217912" cy="742950"/>
            <a:chOff x="7129" y="3942"/>
            <a:chExt cx="4676" cy="1170"/>
          </a:xfrm>
        </p:grpSpPr>
        <p:sp>
          <p:nvSpPr>
            <p:cNvPr id="2" name="文本框 1"/>
            <p:cNvSpPr txBox="1"/>
            <p:nvPr/>
          </p:nvSpPr>
          <p:spPr>
            <a:xfrm>
              <a:off x="7186" y="4012"/>
              <a:ext cx="4558" cy="1036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教育学部（</a:t>
              </a: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1</a:t>
              </a:r>
              <a:r>
                <a:rPr kumimoji="0" lang="zh-CN" alt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人）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矩形 93"/>
            <p:cNvSpPr/>
            <p:nvPr/>
          </p:nvSpPr>
          <p:spPr>
            <a:xfrm>
              <a:off x="7129" y="3942"/>
              <a:ext cx="230" cy="249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0" name="矩形 93"/>
            <p:cNvSpPr/>
            <p:nvPr/>
          </p:nvSpPr>
          <p:spPr>
            <a:xfrm rot="10800000">
              <a:off x="11591" y="4923"/>
              <a:ext cx="214" cy="189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526415" y="0"/>
            <a:ext cx="258953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935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/>
          <p:nvPr>
            <p:custDataLst>
              <p:tags r:id="rId1"/>
            </p:custDataLst>
          </p:nvPr>
        </p:nvCxnSpPr>
        <p:spPr>
          <a:xfrm>
            <a:off x="1373809" y="1130544"/>
            <a:ext cx="8821420" cy="635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63470" y="930489"/>
            <a:ext cx="146227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基本情况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>
            <a:off x="6121324" y="1136814"/>
            <a:ext cx="20320" cy="565658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13665" y="3882390"/>
            <a:ext cx="17957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学院编制情况</a:t>
            </a:r>
            <a:endParaRPr lang="zh-CN" altLang="en-US" sz="2000" b="1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 flipV="1">
            <a:off x="1733854" y="4080754"/>
            <a:ext cx="4387850" cy="190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10353675" y="969010"/>
            <a:ext cx="1771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聘用必要性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1874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853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10" y="1193165"/>
            <a:ext cx="5687695" cy="258699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男，</a:t>
            </a:r>
            <a:r>
              <a:rPr lang="en-US" altLang="zh-CN" b="1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1999 </a:t>
            </a:r>
            <a:r>
              <a:rPr lang="zh-CN" altLang="en-US" b="1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年</a:t>
            </a:r>
            <a:r>
              <a:rPr lang="en-US" altLang="zh-CN" b="1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03</a:t>
            </a:r>
            <a:r>
              <a:rPr lang="zh-CN" altLang="en-US" b="1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月生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lvl="0" algn="r">
              <a:lnSpc>
                <a:spcPts val="2400"/>
              </a:lnSpc>
              <a:defRPr/>
            </a:pPr>
            <a:endParaRPr lang="zh-CN" altLang="en-US" sz="1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4595" y="1453515"/>
            <a:ext cx="5697855" cy="4607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       </a:t>
            </a:r>
            <a:endParaRPr lang="zh-CN" altLang="en-US" sz="1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63208" y="4481513"/>
          <a:ext cx="5715000" cy="193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685"/>
                <a:gridCol w="598805"/>
                <a:gridCol w="499745"/>
                <a:gridCol w="615950"/>
                <a:gridCol w="684530"/>
                <a:gridCol w="702945"/>
                <a:gridCol w="539115"/>
                <a:gridCol w="1292225"/>
              </a:tblGrid>
              <a:tr h="57600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编制数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现有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人数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200" i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Times New Roman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空编数</a:t>
                      </a:r>
                      <a:endParaRPr lang="zh-CN" altLang="en-US" sz="1200" i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正高级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副高级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中级</a:t>
                      </a:r>
                      <a:endParaRPr lang="en-US" altLang="zh-CN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200" i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imes New Roman Regular" panose="02020503050405090304" charset="0"/>
                          <a:ea typeface="微软雅黑" panose="020B0503020204020204" charset="-122"/>
                          <a:cs typeface="Times New Roman Regular" panose="02020503050405090304" charset="0"/>
                        </a:rPr>
                        <a:t>预计退休情况</a:t>
                      </a:r>
                      <a:endParaRPr lang="zh-CN" altLang="en-US" sz="1200" i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</a:tr>
              <a:tr h="67437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 err="1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Times New Roman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endParaRPr lang="zh-CN" altLang="en-US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</a:tr>
              <a:tr h="685165">
                <a:tc>
                  <a:txBody>
                    <a:bodyPr/>
                    <a:p>
                      <a:pPr algn="ctr" fontAlgn="ctr"/>
                      <a:endParaRPr lang="en-US" altLang="zh-CN" sz="1200" b="1" i="0" noProof="0" dirty="0" err="1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3" marR="9843" marT="9839" marB="0" anchor="ctr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en-US" altLang="zh-CN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ctr" fontAlgn="ctr"/>
                      <a:endParaRPr lang="zh-CN" altLang="en-US" sz="1200" b="1" i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Times New Roman Regular" panose="02020503050405090304" charset="0"/>
                        <a:ea typeface="微软雅黑" panose="020B0503020204020204" charset="-122"/>
                        <a:cs typeface="Times New Roman Regular" panose="02020503050405090304" charset="0"/>
                        <a:sym typeface="+mn-ea"/>
                      </a:endParaRPr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>
            <a:stCxn id="17" idx="3"/>
          </p:cNvCxnSpPr>
          <p:nvPr>
            <p:custDataLst>
              <p:tags r:id="rId1"/>
            </p:custDataLst>
          </p:nvPr>
        </p:nvCxnSpPr>
        <p:spPr>
          <a:xfrm flipV="1">
            <a:off x="1912924" y="1141339"/>
            <a:ext cx="10278745" cy="82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40970" y="949896"/>
            <a:ext cx="1771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科研业绩情况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0731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4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140970" y="1771015"/>
          <a:ext cx="11967845" cy="4949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730"/>
                <a:gridCol w="5861685"/>
                <a:gridCol w="557530"/>
                <a:gridCol w="812165"/>
                <a:gridCol w="1413510"/>
                <a:gridCol w="911225"/>
              </a:tblGrid>
              <a:tr h="34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期刊名称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论文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题目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篇数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分区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年份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981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8864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639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75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720090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720725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7520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6540" y="1347470"/>
            <a:ext cx="1165479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发表论文情况：以第一作者身份发表高水平论文总计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25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篇，其中校内哲社一区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篇，校内哲社二区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13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篇，校内哲社三区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11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>
            <a:stCxn id="17" idx="3"/>
          </p:cNvCxnSpPr>
          <p:nvPr>
            <p:custDataLst>
              <p:tags r:id="rId1"/>
            </p:custDataLst>
          </p:nvPr>
        </p:nvCxnSpPr>
        <p:spPr>
          <a:xfrm flipV="1">
            <a:off x="1912924" y="1141339"/>
            <a:ext cx="10278745" cy="82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40970" y="949896"/>
            <a:ext cx="1771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科研业绩情况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0731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4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6540" y="1347470"/>
            <a:ext cx="1165479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发表论文情况：以第一作者身份发表高水平论文总计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25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篇，其中校内哲社一区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</a:t>
            </a:r>
            <a:r>
              <a:rPr lang="en-US" altLang="zh-CN" sz="1600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篇，校内哲社二区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13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篇，校内哲社三区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  <a:sym typeface="+mn-ea"/>
              </a:rPr>
              <a:t>11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140970" y="1771015"/>
          <a:ext cx="11967845" cy="463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660"/>
                <a:gridCol w="5882005"/>
                <a:gridCol w="719455"/>
                <a:gridCol w="862965"/>
                <a:gridCol w="1090295"/>
                <a:gridCol w="799465"/>
              </a:tblGrid>
              <a:tr h="34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期刊名称</a:t>
                      </a:r>
                      <a:endParaRPr lang="en-US" altLang="zh-CN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论文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题目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篇数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分区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年份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55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562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639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639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9687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75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b="0" i="0" u="none" strike="noStrike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6395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5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86715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6395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2672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>
            <a:stCxn id="17" idx="3"/>
          </p:cNvCxnSpPr>
          <p:nvPr>
            <p:custDataLst>
              <p:tags r:id="rId1"/>
            </p:custDataLst>
          </p:nvPr>
        </p:nvCxnSpPr>
        <p:spPr>
          <a:xfrm flipV="1">
            <a:off x="1912924" y="1141339"/>
            <a:ext cx="10278745" cy="82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40970" y="949896"/>
            <a:ext cx="1771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科研业绩情况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0731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4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3850" y="1280160"/>
            <a:ext cx="6172835" cy="607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获批项目情况：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323850" y="1887855"/>
          <a:ext cx="10370820" cy="4828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620"/>
                <a:gridCol w="3729990"/>
                <a:gridCol w="810895"/>
                <a:gridCol w="842010"/>
                <a:gridCol w="1043305"/>
              </a:tblGrid>
              <a:tr h="3238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项目类别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项目名称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项数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年份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057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305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471805"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>
            <a:stCxn id="17" idx="3"/>
          </p:cNvCxnSpPr>
          <p:nvPr>
            <p:custDataLst>
              <p:tags r:id="rId1"/>
            </p:custDataLst>
          </p:nvPr>
        </p:nvCxnSpPr>
        <p:spPr>
          <a:xfrm flipV="1">
            <a:off x="1912924" y="1141339"/>
            <a:ext cx="10278745" cy="825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40970" y="949896"/>
            <a:ext cx="1771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科研业绩情况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0731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4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1406525"/>
            <a:ext cx="617283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其他成果：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3"/>
            </p:custDataLst>
          </p:nvPr>
        </p:nvGraphicFramePr>
        <p:xfrm>
          <a:off x="347345" y="1998351"/>
          <a:ext cx="11583299" cy="4014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295"/>
                <a:gridCol w="4691380"/>
                <a:gridCol w="762000"/>
                <a:gridCol w="905510"/>
                <a:gridCol w="3753114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>
                          <a:latin typeface="微软雅黑" panose="020B0503020204020204" charset="-122"/>
                          <a:ea typeface="微软雅黑" panose="020B0503020204020204" charset="-122"/>
                        </a:rPr>
                        <a:t>名称</a:t>
                      </a:r>
                      <a:endParaRPr lang="zh-CN" altLang="en-US" sz="12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项数</a:t>
                      </a: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年份</a:t>
                      </a: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49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1" dirty="0">
                        <a:solidFill>
                          <a:srgbClr val="C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/>
                </a:tc>
              </a:tr>
              <a:tr h="2927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/>
                </a:tc>
              </a:tr>
              <a:tr h="3835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Times New Roman" panose="02020503050405090304" charset="0"/>
                        <a:ea typeface="微软雅黑" panose="020B0503020204020204" charset="-122"/>
                        <a:cs typeface="Times New Roman" panose="0202050305040509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23850" y="6070600"/>
            <a:ext cx="84493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ctr">
              <a:buNone/>
            </a:pPr>
            <a:r>
              <a:rPr lang="zh-CN" altLang="en-US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备注</a:t>
            </a:r>
            <a:r>
              <a:rPr lang="zh-CN" altLang="en-US" sz="1400" b="1" dirty="0">
                <a:latin typeface="楷体_GB2312" panose="02010609030101010101" charset="-122"/>
                <a:ea typeface="楷体_GB2312" panose="02010609030101010101" charset="-122"/>
                <a:cs typeface="楷体_GB2312" panose="02010609030101010101" charset="-122"/>
                <a:sym typeface="+mn-ea"/>
              </a:rPr>
              <a:t>：</a:t>
            </a:r>
            <a:endParaRPr lang="zh-CN" altLang="en-US" sz="1400" b="1" dirty="0">
              <a:latin typeface="楷体_GB2312" panose="02010609030101010101" charset="-122"/>
              <a:ea typeface="楷体_GB2312" panose="02010609030101010101" charset="-122"/>
              <a:cs typeface="楷体_GB2312" panose="0201060903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直接连接符 98"/>
          <p:cNvCxnSpPr/>
          <p:nvPr>
            <p:custDataLst>
              <p:tags r:id="rId1"/>
            </p:custDataLst>
          </p:nvPr>
        </p:nvCxnSpPr>
        <p:spPr>
          <a:xfrm flipV="1">
            <a:off x="2198039" y="1160389"/>
            <a:ext cx="8336915" cy="1841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20"/>
          <p:cNvSpPr/>
          <p:nvPr/>
        </p:nvSpPr>
        <p:spPr>
          <a:xfrm>
            <a:off x="4526915" y="867410"/>
            <a:ext cx="7665085" cy="1016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6415" y="0"/>
            <a:ext cx="2607310" cy="893445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TextBox 35"/>
          <p:cNvSpPr txBox="1"/>
          <p:nvPr/>
        </p:nvSpPr>
        <p:spPr>
          <a:xfrm>
            <a:off x="495300" y="370205"/>
            <a:ext cx="3943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人才及教师岗位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引进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5425" y="969010"/>
            <a:ext cx="20529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人才办初审意见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384175" y="1444625"/>
            <a:ext cx="5317490" cy="3652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      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charset="0"/>
              <a:ea typeface="微软雅黑" panose="020B0503020204020204" charset="-122"/>
              <a:cs typeface="Times New Roman" panose="02020503050405090304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546600" y="186055"/>
            <a:ext cx="7837805" cy="62738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b="1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name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拟聘岗位：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625455" y="971550"/>
            <a:ext cx="1235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聘期任务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3"/>
            </p:custDataLst>
          </p:nvPr>
        </p:nvCxnSpPr>
        <p:spPr>
          <a:xfrm>
            <a:off x="6121324" y="1178724"/>
            <a:ext cx="20320" cy="565658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359525" y="1525270"/>
            <a:ext cx="5583555" cy="49250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just" fontAlgn="auto"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Times New Roman" panose="02020503050405090304" charset="0"/>
                <a:ea typeface="微软雅黑" panose="020B0503020204020204" charset="-122"/>
                <a:cs typeface="Times New Roman" panose="02020503050405090304" charset="0"/>
              </a:rPr>
              <a:t>      </a:t>
            </a:r>
            <a:endParaRPr lang="zh-CN" altLang="en-US" sz="160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0650" y="5173980"/>
            <a:ext cx="24053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学术咨询评议意见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>
            <p:custDataLst>
              <p:tags r:id="rId4"/>
            </p:custDataLst>
          </p:nvPr>
        </p:nvCxnSpPr>
        <p:spPr>
          <a:xfrm flipV="1">
            <a:off x="2439339" y="5376789"/>
            <a:ext cx="3680460" cy="508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526415" y="5862955"/>
            <a:ext cx="5117465" cy="587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</a:pPr>
            <a:endParaRPr 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503050405090304" charset="0"/>
              <a:ea typeface="微软雅黑" panose="020B0503020204020204" charset="-122"/>
              <a:cs typeface="Times New Roman" panose="02020503050405090304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2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3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4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5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6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7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8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9.xml><?xml version="1.0" encoding="utf-8"?>
<p:tagLst xmlns:p="http://schemas.openxmlformats.org/presentationml/2006/main">
  <p:tag name="TABLE_ENDDRAG_ORIGIN_RECT" val="441*114"/>
  <p:tag name="TABLE_ENDDRAG_RECT" val="12*417*441*114"/>
</p:tagLst>
</file>

<file path=ppt/tags/tag10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1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2.xml><?xml version="1.0" encoding="utf-8"?>
<p:tagLst xmlns:p="http://schemas.openxmlformats.org/presentationml/2006/main">
  <p:tag name="TABLE_ENDDRAG_ORIGIN_RECT" val="441*114"/>
  <p:tag name="TABLE_ENDDRAG_RECT" val="12*417*441*114"/>
</p:tagLst>
</file>

<file path=ppt/tags/tag13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4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5.xml><?xml version="1.0" encoding="utf-8"?>
<p:tagLst xmlns:p="http://schemas.openxmlformats.org/presentationml/2006/main">
  <p:tag name="TABLE_ENDDRAG_ORIGIN_RECT" val="807*191"/>
  <p:tag name="TABLE_ENDDRAG_RECT" val="18*142*807*191"/>
</p:tagLst>
</file>

<file path=ppt/tags/tag16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7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18.xml><?xml version="1.0" encoding="utf-8"?>
<p:tagLst xmlns:p="http://schemas.openxmlformats.org/presentationml/2006/main">
  <p:tag name="TABLE_ENDDRAG_ORIGIN_RECT" val="888*127"/>
  <p:tag name="TABLE_ENDDRAG_RECT" val="18*131*888*127"/>
</p:tagLst>
</file>

<file path=ppt/tags/tag19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20.xml><?xml version="1.0" encoding="utf-8"?>
<p:tagLst xmlns:p="http://schemas.openxmlformats.org/presentationml/2006/main">
  <p:tag name="KSO_WM_DIAGRAM_VIRTUALLY_FRAME" val="{&quot;height&quot;:673.7521259842518,&quot;left&quot;:25.45,&quot;top&quot;:78.44787401574803,&quot;width&quot;:929.3}"/>
</p:tagLst>
</file>

<file path=ppt/tags/tag21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ags/tag22.xml><?xml version="1.0" encoding="utf-8"?>
<p:tagLst xmlns:p="http://schemas.openxmlformats.org/presentationml/2006/main">
  <p:tag name="KSO_WM_DIAGRAM_VIRTUALLY_FRAME" val="{&quot;height&quot;:481.38314960629924,&quot;left&quot;:-38.85,&quot;top&quot;:74.76685039370076,&quot;width&quot;:999.7}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表格</Application>
  <PresentationFormat>宽屏</PresentationFormat>
  <Paragraphs>131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微软雅黑</vt:lpstr>
      <vt:lpstr>汉仪旗黑</vt:lpstr>
      <vt:lpstr>等线</vt:lpstr>
      <vt:lpstr>楷体</vt:lpstr>
      <vt:lpstr>Times New Roman Regular</vt:lpstr>
      <vt:lpstr>楷体_GB2312</vt:lpstr>
      <vt:lpstr>Times New Roman</vt:lpstr>
      <vt:lpstr>汉仪书宋二KW</vt:lpstr>
      <vt:lpstr>Helvetica Neue</vt:lpstr>
      <vt:lpstr>汉仪中等线KW</vt:lpstr>
      <vt:lpstr>汉仪楷体KW</vt:lpstr>
      <vt:lpstr>汉仪楷体简</vt:lpstr>
      <vt:lpstr>宋体</vt:lpstr>
      <vt:lpstr>Arial Unicode MS</vt:lpstr>
      <vt:lpstr>等线 Light</vt:lpstr>
      <vt:lpstr>微软雅黑</vt:lpstr>
      <vt:lpstr>楷体</vt:lpstr>
      <vt:lpstr>楷体_GB2312</vt:lpstr>
      <vt:lpstr>等线</vt:lpstr>
      <vt:lpstr>2_Office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王鑫</cp:lastModifiedBy>
  <cp:revision>355</cp:revision>
  <dcterms:created xsi:type="dcterms:W3CDTF">2025-12-26T10:39:32Z</dcterms:created>
  <dcterms:modified xsi:type="dcterms:W3CDTF">2025-12-26T10:39:32Z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A6F1D77AD6996B4491B24C696F3545FC_43</vt:lpwstr>
  </property>
</Properties>
</file>